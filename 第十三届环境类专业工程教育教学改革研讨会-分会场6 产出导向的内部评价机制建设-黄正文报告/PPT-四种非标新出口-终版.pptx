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各位老师好。我是黄正文，成都大学环境工程系。今天15分钟，把四条非标新路径探索进展拆开给大家看。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四大问题——付业变产业、中餐变汉堡、传媒获客、存量消逝+三案例。右侧对应四条出口。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四条非标新路径：门户、故事云、智能体、个人IP。每张卡片底部附URL。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第一章：副业变产业。五步——从边界切割到壁垒构建。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焚烧炉——从2003年卖设备到今天卖故事。铁会锈，故事不会。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第二章：中餐变汉堡。五步解法。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环评串串香——碎片化、低价内卷。重构三方向。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第三章：传媒获客。从“等项目靠人脉”转为品牌引流。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第四章：当焚烧炉和环评都萎缩了。六大衍生方向。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A的演化链、B的演化链——四种出口融合后，一个人就是一条产业链。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前四章是教改的“术”，这一章是教改的“道”。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学生端：能做什么、学到什么、获得什么。两张表一目了然。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老师端：四个收益链闭环。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闭环：学生参与→初始就业→老师获课题→反哺→正循环。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最后，一张表收束全部。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谢谢各位。产出导向，就是学生高起点初始就业、教师高质量再就业——丝滑穿越大周期。请批评。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354"/>
                </a:solidFill>
                <a:latin typeface="Microsoft YaHei"/>
              </a:defRPr>
            </a:pPr>
            <a:r>
              <a:t>穿越周期：教科研产出的四条非标新路径探索进展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520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9888"/>
                </a:solidFill>
                <a:latin typeface="Microsoft YaHei"/>
              </a:defRPr>
            </a:pPr>
            <a:r>
              <a:t>门户 · 故事云 · 智能体 · 个人IP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96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Microsoft YaHei"/>
              </a:defRPr>
            </a:pPr>
            <a:r>
              <a:t>黄正文 教授 · 成都大学环境工程系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68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FA080"/>
                </a:solidFill>
                <a:latin typeface="Microsoft YaHei"/>
              </a:defRPr>
            </a:pPr>
            <a:r>
              <a:t>分会场6：产出导向的内部评价机制建设与运行</a:t>
            </a:r>
          </a:p>
        </p:txBody>
      </p:sp>
      <p:pic>
        <p:nvPicPr>
          <p:cNvPr id="6" name="Picture 5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分享与讨论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260000"/>
            <a:ext cx="234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260000"/>
            <a:ext cx="234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000" y="1368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354"/>
                </a:solidFill>
                <a:latin typeface="Microsoft YaHei"/>
              </a:defRPr>
            </a:pPr>
            <a:r>
              <a:t>① 副业变产业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4000" y="190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Microsoft YaHei"/>
              </a:defRPr>
            </a:pPr>
            <a:r>
              <a:t>零散接单→组织化运营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0000" y="1692000"/>
            <a:ext cx="54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80000" y="1260000"/>
            <a:ext cx="252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80000" y="1260000"/>
            <a:ext cx="252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24000" y="1440000"/>
            <a:ext cx="23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354"/>
                </a:solidFill>
                <a:latin typeface="Microsoft YaHei"/>
              </a:defRPr>
            </a:pPr>
            <a:r>
              <a:t>门户 + 个人IP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000" y="1260000"/>
            <a:ext cx="234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0000" y="1260000"/>
            <a:ext cx="234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3999" y="1368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354"/>
                </a:solidFill>
                <a:latin typeface="Microsoft YaHei"/>
              </a:defRPr>
            </a:pPr>
            <a:r>
              <a:t>② 中餐变汉堡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999" y="190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Microsoft YaHei"/>
              </a:defRPr>
            </a:pPr>
            <a:r>
              <a:t>非标服务→工业化标品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0000" y="1692000"/>
            <a:ext cx="54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540000" y="1260000"/>
            <a:ext cx="252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40000" y="1260000"/>
            <a:ext cx="252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84000" y="1440000"/>
            <a:ext cx="23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354"/>
                </a:solidFill>
                <a:latin typeface="Microsoft YaHei"/>
              </a:defRPr>
            </a:pPr>
            <a:r>
              <a:t>故事云 + 智能体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420000"/>
            <a:ext cx="234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0000" y="3420000"/>
            <a:ext cx="234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4000" y="3528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354"/>
                </a:solidFill>
                <a:latin typeface="Microsoft YaHei"/>
              </a:defRPr>
            </a:pPr>
            <a:r>
              <a:t>③ 传媒获客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000" y="406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Microsoft YaHei"/>
              </a:defRPr>
            </a:pPr>
            <a:r>
              <a:t>人脉等单→品牌引流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060000" y="3851999"/>
            <a:ext cx="54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780000" y="3420000"/>
            <a:ext cx="252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780000" y="3420000"/>
            <a:ext cx="252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24000" y="3600000"/>
            <a:ext cx="23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354"/>
                </a:solidFill>
                <a:latin typeface="Microsoft YaHei"/>
              </a:defRPr>
            </a:pPr>
            <a:r>
              <a:t>门户 + 故事云 + IP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0000" y="3420000"/>
            <a:ext cx="234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0000" y="3420000"/>
            <a:ext cx="234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3999" y="3528000"/>
            <a:ext cx="21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354"/>
                </a:solidFill>
                <a:latin typeface="Microsoft YaHei"/>
              </a:defRPr>
            </a:pPr>
            <a:r>
              <a:t>④ 存量消逝 + 三案例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3999" y="4068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88"/>
                </a:solidFill>
                <a:latin typeface="Microsoft YaHei"/>
              </a:defRPr>
            </a:pPr>
            <a:r>
              <a:t>A焚烧炉 B环评 C2026+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820000" y="3851999"/>
            <a:ext cx="54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540000" y="3420000"/>
            <a:ext cx="2520000" cy="126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40000" y="3420000"/>
            <a:ext cx="252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84000" y="3600000"/>
            <a:ext cx="23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354"/>
                </a:solidFill>
                <a:latin typeface="Microsoft YaHei"/>
              </a:defRPr>
            </a:pPr>
            <a:r>
              <a:t>四者融合衍生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000" y="594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A080"/>
                </a:solidFill>
                <a:latin typeface="Microsoft YaHei"/>
              </a:defRPr>
            </a:pPr>
            <a:r>
              <a:t>参见：zhengwen69.github.io/cdu-gufei-web-demo</a:t>
            </a:r>
          </a:p>
        </p:txBody>
      </p:sp>
      <p:pic>
        <p:nvPicPr>
          <p:cNvPr id="36" name="Picture 35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探索中：四条非标新路径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260000"/>
            <a:ext cx="2592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260000"/>
            <a:ext cx="2592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门户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340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0"/>
                </a:solidFill>
                <a:latin typeface="Microsoft YaHei"/>
              </a:defRPr>
            </a:pPr>
            <a:r>
              <a:t>零成本静态成果集群，扫码即验、可复制复用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3960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index.html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0000" y="1260000"/>
            <a:ext cx="2592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000" y="1260000"/>
            <a:ext cx="2592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0" y="14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故事云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0" y="2340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0"/>
                </a:solidFill>
                <a:latin typeface="Microsoft YaHei"/>
              </a:defRPr>
            </a:pPr>
            <a:r>
              <a:t>工程纪实转化教学案例，隐性知识数字化流通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0" y="3960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TingXian.html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0000" y="1260000"/>
            <a:ext cx="2592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260000"/>
            <a:ext cx="2592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0" y="14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智能体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0" y="2340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0"/>
                </a:solidFill>
                <a:latin typeface="Microsoft YaHei"/>
              </a:defRPr>
            </a:pPr>
            <a:r>
              <a:t>11-Agent协同，单人产能倍增，边际成本趋零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0" y="3960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agent团队演示.html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0000" y="1260000"/>
            <a:ext cx="2592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80000" y="1260000"/>
            <a:ext cx="2592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60000" y="1440000"/>
            <a:ext cx="23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个人IP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0000" y="2340000"/>
            <a:ext cx="23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0D0"/>
                </a:solidFill>
                <a:latin typeface="Microsoft YaHei"/>
              </a:defRPr>
            </a:pPr>
            <a:r>
              <a:t>多身份叠加、方法论跨域迁移，构筑长期价值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0000" y="3960000"/>
            <a:ext cx="23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HuangZhengwen.html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000" y="576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FA080"/>
                </a:solidFill>
                <a:latin typeface="Microsoft YaHei"/>
              </a:defRPr>
            </a:pPr>
            <a:r>
              <a:t>全部扫码即验 · zhengwen69.github.io/cdu-gufei-web-demo</a:t>
            </a:r>
          </a:p>
        </p:txBody>
      </p:sp>
      <p:pic>
        <p:nvPicPr>
          <p:cNvPr id="24" name="Picture 23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第一章 · 副业变产业 —— 门户 + 个人IP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您的动作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1.边界切割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厘清合规边界，个人私活→法人主体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四川长城环境科学研究院=企业主体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2.能力资产化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拆解经验为可复用模块/数字资产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200万字小说=20年经验数字化资产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3.流程标准化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建立SOP，替代个人依赖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11-Agent=串行手工→并行自动化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4.增长飞轮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一次性→持续性收入，案例→口碑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67页门户=零成本获客底座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5.壁垒构建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专利/软著/资质/标准=护城河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9项版权+6件专利+10篇论文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扫码：HuangZhengwen.html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案例A：医疗垃圾焚烧炉 —— 从卖铁到卖故事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0000" y="1980000"/>
            <a:ext cx="7200000" cy="216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728000" y="1853999"/>
            <a:ext cx="144000" cy="144000"/>
          </a:xfrm>
          <a:prstGeom prst="ellipse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16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C44B2A"/>
                </a:solidFill>
                <a:latin typeface="Microsoft YaHei"/>
              </a:defRPr>
            </a:pPr>
            <a:r>
              <a:t>●2003</a:t>
            </a:r>
            <a:br/>
            <a:r>
              <a:t>实物产品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80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A080"/>
                </a:solidFill>
                <a:latin typeface="Microsoft YaHei"/>
              </a:defRPr>
            </a:pPr>
            <a:r>
              <a:t>TingXian.html</a:t>
            </a:r>
          </a:p>
        </p:txBody>
      </p:sp>
      <p:sp>
        <p:nvSpPr>
          <p:cNvPr id="7" name="Oval 6"/>
          <p:cNvSpPr/>
          <p:nvPr/>
        </p:nvSpPr>
        <p:spPr>
          <a:xfrm>
            <a:off x="5472000" y="1853999"/>
            <a:ext cx="144000" cy="144000"/>
          </a:xfrm>
          <a:prstGeom prst="ellipse">
            <a:avLst/>
          </a:prstGeom>
          <a:solidFill>
            <a:srgbClr val="8B6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44000" y="216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6914"/>
                </a:solidFill>
                <a:latin typeface="Microsoft YaHei"/>
              </a:defRPr>
            </a:pPr>
            <a:r>
              <a:t>●2008-2018</a:t>
            </a:r>
            <a:br/>
            <a:r>
              <a:t>咨询报告/环评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4000" y="280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A080"/>
                </a:solidFill>
                <a:latin typeface="Microsoft YaHei"/>
              </a:defRPr>
            </a:pPr>
            <a:r>
              <a:t>TingXian.html</a:t>
            </a:r>
          </a:p>
        </p:txBody>
      </p:sp>
      <p:sp>
        <p:nvSpPr>
          <p:cNvPr id="10" name="Oval 9"/>
          <p:cNvSpPr/>
          <p:nvPr/>
        </p:nvSpPr>
        <p:spPr>
          <a:xfrm>
            <a:off x="8748000" y="1853999"/>
            <a:ext cx="144000" cy="144000"/>
          </a:xfrm>
          <a:prstGeom prst="ellipse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0000" y="216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354"/>
                </a:solidFill>
                <a:latin typeface="Microsoft YaHei"/>
              </a:defRPr>
            </a:pPr>
            <a:r>
              <a:t>●2026</a:t>
            </a:r>
            <a:br/>
            <a:r>
              <a:t>故事/流量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0000" y="2808000"/>
            <a:ext cx="14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7FA080"/>
                </a:solidFill>
                <a:latin typeface="Microsoft YaHei"/>
              </a:defRPr>
            </a:pPr>
            <a:r>
              <a:t>TingXian.html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240000" y="3420000"/>
            <a:ext cx="576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0" y="3708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D4A354"/>
                </a:solidFill>
                <a:latin typeface="Microsoft YaHei"/>
              </a:defRPr>
            </a:pPr>
            <a:r>
              <a:t>实物产品 → 数字资产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08000"/>
            <a:ext cx="12193200" cy="450000"/>
          </a:xfrm>
          <a:prstGeom prst="rect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644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铁会锈，故事不会。也许是产业化或新质生产力有益的探索。</a:t>
            </a:r>
          </a:p>
        </p:txBody>
      </p:sp>
      <p:pic>
        <p:nvPicPr>
          <p:cNvPr id="17" name="Picture 16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第二章 · 中餐变汉堡 —— 故事云 + 智能体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您的动作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1.解构核心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提炼高频通用环节，剥离非必要定制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20年经验→7部小说→27个标准案例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2.参数封装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经验→数学模型/算法/标准模板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Agent-S：输入一章小说→输出一个教案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3.分级产品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基础标品（走量）+进阶层+定制层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免费小说→案例库→专著论文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4.品控工业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质量核验、交付时效、售后机制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7步闭环：预习→准备→...→改进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5.品牌渠道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统一命名/手册/案例库/认证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全部门户开源——任何教师fork即部署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扫码：cases-full.html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案例B：环评“串串香模式”盈利重构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0000" y="1260000"/>
            <a:ext cx="3600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1260000"/>
            <a:ext cx="360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1368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C44B2A"/>
                </a:solidFill>
                <a:latin typeface="Microsoft YaHei"/>
              </a:defRPr>
            </a:pPr>
            <a:r>
              <a:t>串串香模式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980000"/>
            <a:ext cx="32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碎片化接单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低价内卷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人脉依赖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报告交付为终点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320000" y="2340000"/>
            <a:ext cx="1080000" cy="216000"/>
          </a:xfrm>
          <a:prstGeom prst="rightArrow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2000" y="2628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354"/>
                </a:solidFill>
                <a:latin typeface="Microsoft YaHei"/>
              </a:defRPr>
            </a:pPr>
            <a:r>
              <a:t>标准化</a:t>
            </a:r>
            <a:br/>
            <a:r>
              <a:t>业务升维</a:t>
            </a:r>
            <a:br/>
            <a:r>
              <a:t>组织升级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1260000"/>
            <a:ext cx="5760000" cy="32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0" y="1260000"/>
            <a:ext cx="576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0000" y="1368000"/>
            <a:ext cx="54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D4A354"/>
                </a:solidFill>
                <a:latin typeface="Microsoft YaHei"/>
              </a:defRPr>
            </a:pPr>
            <a:r>
              <a:t>重构后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0000" y="1980000"/>
            <a:ext cx="54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0D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AI辅助平台 · 标准化降本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前置咨询→环评→验收→年度托管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8E0D0"/>
                </a:solidFill>
                <a:latin typeface="Microsoft YaHei"/>
              </a:defRPr>
            </a:pPr>
            <a:r>
              <a:t>• 整合环评/监测/工程/法律团队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0000" y="396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故事云→结构化表达 · 智能体→编制自动化 · 门户→可视化获客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0000" y="424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pipeline.html · agents.html</a:t>
            </a:r>
          </a:p>
        </p:txBody>
      </p:sp>
      <p:pic>
        <p:nvPicPr>
          <p:cNvPr id="15" name="Picture 1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第三章 · 传媒获客 —— 门户 + 故事云 + IP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步骤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您的动作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黄老师的做法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1.内容传媒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输出硬核专业内容，塑造专家IP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200万字免费小说=最大内容引流池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2.案例可视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完成项目→可视化案例+数据对比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67页门户=全部成果扫码即验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3.精准运营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客户分层、数字化获客、渠道联营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迁移探索=7类场景展示·不同入口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4.商务闭环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前置价值输出+合规商务+客户成功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免费→信任→Agent交付→持续迭代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5.口碑放大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标杆→政府目录/示范工程/行业奖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百度双词条+9版权+10国论文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86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扫码：教研科研进展.html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第四章 · 2026年后：存量消逝，出路在哪？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17142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衍生方向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具体内容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黄老师的探索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智能软件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数据中台/AI决策/数字孪生/SaaS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11-Agent=可授权的AI平台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模块装备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分布式应急单元/核心模块/小型设备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6件专利·涵盖材料/AI/人体工学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高阶服务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顶层方案/行业标准/双碳规划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10篇论文×10国10刊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数据价值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工况数据库/碳账户/数据资产运营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日更6600字+Agent结构化日志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1714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跨界融合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医废-能源循环/跨境合规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7领域跨域迁移验证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17148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科研升级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课题管理/成果转化/联合实验室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67页开源门户=可自我复制的IP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558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扫码：建设任务书.html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08000"/>
            <a:ext cx="108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案例C：当A和B都消逝了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900000"/>
            <a:ext cx="8280000" cy="14400"/>
          </a:xfrm>
          <a:prstGeom prst="rect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72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4B2A"/>
                </a:solidFill>
                <a:latin typeface="Microsoft YaHei"/>
              </a:defRPr>
            </a:pPr>
            <a:r>
              <a:t>A 焚烧炉</a:t>
            </a:r>
          </a:p>
        </p:txBody>
      </p:sp>
      <p:sp>
        <p:nvSpPr>
          <p:cNvPr id="5" name="Oval 4"/>
          <p:cNvSpPr/>
          <p:nvPr/>
        </p:nvSpPr>
        <p:spPr>
          <a:xfrm>
            <a:off x="1756800" y="856800"/>
            <a:ext cx="86400" cy="86400"/>
          </a:xfrm>
          <a:prstGeom prst="ellipse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3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4B2A"/>
                </a:solidFill>
                <a:latin typeface="Microsoft YaHei"/>
              </a:defRPr>
            </a:pPr>
            <a:r>
              <a:t>实物设备</a:t>
            </a:r>
          </a:p>
        </p:txBody>
      </p:sp>
      <p:sp>
        <p:nvSpPr>
          <p:cNvPr id="7" name="Oval 6"/>
          <p:cNvSpPr/>
          <p:nvPr/>
        </p:nvSpPr>
        <p:spPr>
          <a:xfrm>
            <a:off x="3916800" y="856800"/>
            <a:ext cx="86400" cy="86400"/>
          </a:xfrm>
          <a:prstGeom prst="ellipse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0000" y="3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4B2A"/>
                </a:solidFill>
                <a:latin typeface="Microsoft YaHei"/>
              </a:defRPr>
            </a:pPr>
            <a:r>
              <a:t>智能运维</a:t>
            </a:r>
          </a:p>
        </p:txBody>
      </p:sp>
      <p:sp>
        <p:nvSpPr>
          <p:cNvPr id="9" name="Oval 8"/>
          <p:cNvSpPr/>
          <p:nvPr/>
        </p:nvSpPr>
        <p:spPr>
          <a:xfrm>
            <a:off x="6076800" y="856800"/>
            <a:ext cx="86400" cy="86400"/>
          </a:xfrm>
          <a:prstGeom prst="ellipse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80000" y="3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4B2A"/>
                </a:solidFill>
                <a:latin typeface="Microsoft YaHei"/>
              </a:defRPr>
            </a:pPr>
            <a:r>
              <a:t>全链溯源</a:t>
            </a:r>
          </a:p>
        </p:txBody>
      </p:sp>
      <p:sp>
        <p:nvSpPr>
          <p:cNvPr id="11" name="Oval 10"/>
          <p:cNvSpPr/>
          <p:nvPr/>
        </p:nvSpPr>
        <p:spPr>
          <a:xfrm>
            <a:off x="8236800" y="856800"/>
            <a:ext cx="86400" cy="86400"/>
          </a:xfrm>
          <a:prstGeom prst="ellipse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40000" y="3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C44B2A"/>
                </a:solidFill>
                <a:latin typeface="Microsoft YaHei"/>
              </a:defRPr>
            </a:pPr>
            <a:r>
              <a:t>碳资产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" y="2340000"/>
            <a:ext cx="8280000" cy="14400"/>
          </a:xfrm>
          <a:prstGeom prst="rect">
            <a:avLst/>
          </a:prstGeom>
          <a:solidFill>
            <a:srgbClr val="7F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000" y="216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A080"/>
                </a:solidFill>
                <a:latin typeface="Microsoft YaHei"/>
              </a:defRPr>
            </a:pPr>
            <a:r>
              <a:t>B 环评</a:t>
            </a:r>
          </a:p>
        </p:txBody>
      </p:sp>
      <p:sp>
        <p:nvSpPr>
          <p:cNvPr id="15" name="Oval 14"/>
          <p:cNvSpPr/>
          <p:nvPr/>
        </p:nvSpPr>
        <p:spPr>
          <a:xfrm>
            <a:off x="1756800" y="2296800"/>
            <a:ext cx="86400" cy="86400"/>
          </a:xfrm>
          <a:prstGeom prst="ellipse">
            <a:avLst/>
          </a:prstGeom>
          <a:solidFill>
            <a:srgbClr val="7F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0000" y="25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A080"/>
                </a:solidFill>
                <a:latin typeface="Microsoft YaHei"/>
              </a:defRPr>
            </a:pPr>
            <a:r>
              <a:t>报告编制</a:t>
            </a:r>
          </a:p>
        </p:txBody>
      </p:sp>
      <p:sp>
        <p:nvSpPr>
          <p:cNvPr id="17" name="Oval 16"/>
          <p:cNvSpPr/>
          <p:nvPr/>
        </p:nvSpPr>
        <p:spPr>
          <a:xfrm>
            <a:off x="3916800" y="2296800"/>
            <a:ext cx="86400" cy="86400"/>
          </a:xfrm>
          <a:prstGeom prst="ellipse">
            <a:avLst/>
          </a:prstGeom>
          <a:solidFill>
            <a:srgbClr val="7F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0000" y="25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A080"/>
                </a:solidFill>
                <a:latin typeface="Microsoft YaHei"/>
              </a:defRPr>
            </a:pPr>
            <a:r>
              <a:t>SaaS工具</a:t>
            </a:r>
          </a:p>
        </p:txBody>
      </p:sp>
      <p:sp>
        <p:nvSpPr>
          <p:cNvPr id="19" name="Oval 18"/>
          <p:cNvSpPr/>
          <p:nvPr/>
        </p:nvSpPr>
        <p:spPr>
          <a:xfrm>
            <a:off x="6076800" y="2296800"/>
            <a:ext cx="86400" cy="86400"/>
          </a:xfrm>
          <a:prstGeom prst="ellipse">
            <a:avLst/>
          </a:prstGeom>
          <a:solidFill>
            <a:srgbClr val="7F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80000" y="25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A080"/>
                </a:solidFill>
                <a:latin typeface="Microsoft YaHei"/>
              </a:defRPr>
            </a:pPr>
            <a:r>
              <a:t>年度托管</a:t>
            </a:r>
          </a:p>
        </p:txBody>
      </p:sp>
      <p:sp>
        <p:nvSpPr>
          <p:cNvPr id="21" name="Oval 20"/>
          <p:cNvSpPr/>
          <p:nvPr/>
        </p:nvSpPr>
        <p:spPr>
          <a:xfrm>
            <a:off x="8236800" y="2296800"/>
            <a:ext cx="86400" cy="86400"/>
          </a:xfrm>
          <a:prstGeom prst="ellipse">
            <a:avLst/>
          </a:prstGeom>
          <a:solidFill>
            <a:srgbClr val="7F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40000" y="252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7FA080"/>
                </a:solidFill>
                <a:latin typeface="Microsoft YaHei"/>
              </a:defRPr>
            </a:pPr>
            <a:r>
              <a:t>数字孪生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0" y="954000"/>
            <a:ext cx="14400" cy="21420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0000" y="2394000"/>
            <a:ext cx="14400" cy="7020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20800" y="3016799"/>
            <a:ext cx="158400" cy="158400"/>
          </a:xfrm>
          <a:prstGeom prst="ellipse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44000" y="3096000"/>
            <a:ext cx="3600000" cy="144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20000" y="3276000"/>
            <a:ext cx="21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D4A354"/>
                </a:solidFill>
                <a:latin typeface="Microsoft YaHei"/>
              </a:defRPr>
            </a:pPr>
            <a:r>
              <a:t>四种出口融合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0000" y="3276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D4A354"/>
                </a:solidFill>
                <a:latin typeface="Microsoft YaHei"/>
              </a:defRPr>
            </a:pPr>
            <a:r>
              <a:t>故事云(内容)+门户(渠道)+智能体(交付)+IP(品牌) = 一人一产业链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0000" y="504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A080"/>
                </a:solidFill>
                <a:latin typeface="Microsoft YaHei"/>
              </a:defRPr>
            </a:pPr>
            <a:r>
              <a:t>建设任务书.html · IP孵化结题报告.html · 迁移探索.html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D4A354"/>
                </a:solidFill>
                <a:latin typeface="Microsoft YaHei"/>
              </a:defRPr>
            </a:pPr>
            <a:r>
              <a:t>第五章 · 再说教改回到师生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000" y="1800000"/>
            <a:ext cx="2880000" cy="72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80000" y="1800000"/>
            <a:ext cx="28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60000" y="190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故事云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80000" y="2700000"/>
            <a:ext cx="2880000" cy="72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0000" y="2700000"/>
            <a:ext cx="28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0000" y="280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门户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80000" y="3600000"/>
            <a:ext cx="2880000" cy="72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80000" y="3600000"/>
            <a:ext cx="28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60000" y="370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智能体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0000" y="4500000"/>
            <a:ext cx="2880000" cy="72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80000" y="4500000"/>
            <a:ext cx="28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0000" y="460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E8E0D0"/>
                </a:solidFill>
                <a:latin typeface="Microsoft YaHei"/>
              </a:defRPr>
            </a:pPr>
            <a:r>
              <a:t>个人IP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3999" y="1260000"/>
            <a:ext cx="21600" cy="43200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40000" y="1800000"/>
            <a:ext cx="4680000" cy="14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40000" y="1800000"/>
            <a:ext cx="46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20000" y="1980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354"/>
                </a:solidFill>
                <a:latin typeface="Microsoft YaHei"/>
              </a:defRPr>
            </a:pPr>
            <a:r>
              <a:t>学生高起点</a:t>
            </a:r>
            <a:br/>
            <a:r>
              <a:t>初始就业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0000" y="3420000"/>
            <a:ext cx="4680000" cy="1440000"/>
          </a:xfrm>
          <a:prstGeom prst="roundRect">
            <a:avLst/>
          </a:prstGeom>
          <a:solidFill>
            <a:srgbClr val="3A3A2E"/>
          </a:solidFill>
          <a:ln>
            <a:solidFill>
              <a:srgbClr val="3A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40000" y="3420000"/>
            <a:ext cx="4680000" cy="28800"/>
          </a:xfrm>
          <a:prstGeom prst="rect">
            <a:avLst/>
          </a:prstGeom>
          <a:solidFill>
            <a:srgbClr val="D4A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0000" y="3600000"/>
            <a:ext cx="43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4A354"/>
                </a:solidFill>
                <a:latin typeface="Microsoft YaHei"/>
              </a:defRPr>
            </a:pPr>
            <a:r>
              <a:t>教师高质量</a:t>
            </a:r>
            <a:br/>
            <a:r>
              <a:t>再就业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08000"/>
            <a:ext cx="12193200" cy="450000"/>
          </a:xfrm>
          <a:prstGeom prst="rect">
            <a:avLst/>
          </a:prstGeom>
          <a:solidFill>
            <a:srgbClr val="C44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6443999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丝滑穿越大周期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000" y="5940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A080"/>
                </a:solidFill>
                <a:latin typeface="Microsoft YaHei"/>
              </a:defRPr>
            </a:pPr>
            <a:r>
              <a:t>教改证据链：课程概览.html · 教研科研进展.html · 建设任务书.html</a:t>
            </a:r>
          </a:p>
        </p:txBody>
      </p:sp>
      <p:pic>
        <p:nvPicPr>
          <p:cNvPr id="28" name="Picture 27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学生：从生手到熟手，高起点初始就业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传统课堂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四条路径下的习得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工程能力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课本理论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一线隐性知识、全流程业务逻辑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数字能力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无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数字化工具链、AI协同、内容创作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项目能力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模拟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真实项目交付、商务沟通、市场化认知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思维升级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标准答案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成果包装、IP思维、产业链上下游视野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3780000"/>
          <a:ext cx="1080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50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突破维度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传统就业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四条路径下的就业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地域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校招单点，局限本地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数字门户+线上内容，全国乃至行业全域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产业链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单岗位匹配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嵌入真实项目链路，多赛道适配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渠道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依赖学校招聘会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IP+公开门户，主动触达优质雇主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504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质量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起薪偏低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复合能力背书，高起点初始就业概率显著提升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老师：两袖清风→一枚咸鸭蛋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648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收益链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如何实现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数据/验证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横向课题源源不断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门户+故事云+IP=专业曝光→市场主动引流→订单自循环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67页门户/10篇论文×10国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收入结构反转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标准化服务+数字资产授权+IP衍生→副业反超主业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9项版权+6专利+200万字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产出正反馈教育教学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营收→实验升级+研究生津贴+前沿预研→反哺课堂与课题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7部小说→27案例→10论文闭环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自主权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时间与经济自主→深耕教学/攻关前沿/培养人才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11-Agent承接重复劳动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20000" y="4500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FA080"/>
                </a:solidFill>
                <a:latin typeface="Microsoft YaHei"/>
              </a:defRPr>
            </a:pPr>
            <a:r>
              <a:t>扫码：agent团队演示.html</a:t>
            </a:r>
          </a:p>
        </p:txBody>
      </p:sp>
      <p:pic>
        <p:nvPicPr>
          <p:cNvPr id="5" name="Picture 4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0000" y="5760000"/>
            <a:ext cx="540000" cy="54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师生双向穿越周期的闭环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60000" y="1080000"/>
            <a:ext cx="79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0D0"/>
                </a:solidFill>
                <a:latin typeface="Microsoft YaHei"/>
              </a:defRPr>
            </a:pP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学生参与实践 → 产出可核验成果 → 高起点初始就业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D4A354"/>
                </a:solidFill>
                <a:latin typeface="Microsoft YaHei"/>
              </a:defRPr>
            </a:pPr>
            <a:r>
              <a:t>           ↓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老师获取课题 → 产出正反馈教育教学 → 提供学生更多资源 → 更高品牌溢价</a:t>
            </a:r>
          </a:p>
          <a:p>
            <a:pPr algn="ctr">
              <a:spcAft>
                <a:spcPts val="400"/>
              </a:spcAft>
              <a:defRPr sz="1200" b="0">
                <a:solidFill>
                  <a:srgbClr val="D4A354"/>
                </a:solidFill>
                <a:latin typeface="Microsoft YaHei"/>
              </a:defRPr>
            </a:pPr>
            <a:r>
              <a:t>           ↓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E8E0D0"/>
                </a:solidFill>
                <a:latin typeface="Microsoft YaHei"/>
              </a:defRPr>
            </a:pPr>
            <a:r>
              <a:t>         新一轮正向循环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8E0D0"/>
                </a:solidFill>
                <a:latin typeface="Microsoft YaHei"/>
              </a:defRPr>
            </a:p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40000" y="3240000"/>
          <a:ext cx="936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0000"/>
                <a:gridCol w="3120000"/>
                <a:gridCol w="31200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检验维度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检验标准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验证方式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学生高起点初始就业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简历有真案例、面试能拆工程、渠道跨地域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cases-full.html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老师高质量再就业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换领域照样跑通、收入反超主业、创收反哺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迁移探索.html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系统持续运转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零运维·零边际成本·可自我复制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index.html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354"/>
                </a:solidFill>
                <a:latin typeface="Microsoft YaHei"/>
              </a:defRPr>
            </a:pPr>
            <a:r>
              <a:t>一页收束：四大问题 × 四条路径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007999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3600000"/>
                <a:gridCol w="3600000"/>
              </a:tblGrid>
              <a:tr h="720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核心痛点（四大问题）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对应新出口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核心价值落点</a:t>
                      </a:r>
                    </a:p>
                  </a:txBody>
                  <a:tcPr>
                    <a:solidFill>
                      <a:srgbClr val="8B6914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副业零散接单，难以规模化成产业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门户 + 个人IP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成果资产化、品牌化，建立可复制运营底座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非标经验依赖强，无法工业化做标品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故事云 + 智能体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隐性知识标准化，流程固化·边际成本趋零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依赖人脉接单，缺市场化获客渠道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门户 + 故事云 + IP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专业内容引流，信任沉淀，订单持续汇聚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2026年后传统业务萎缩，存量消逝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四者融合衍生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数字资产、AI服务、方法论授权·第二曲线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终究回答：再论教改回到师生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四者闭环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E8E0D0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FFFFFF"/>
                          </a:solidFill>
                        </a:rPr>
                        <a:t>学生高起点初始就业 + 教师高质量再就业 = 穿越周期</a:t>
                      </a:r>
                    </a:p>
                  </a:txBody>
                  <a:tcPr>
                    <a:solidFill>
                      <a:srgbClr val="3D35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80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4B2A"/>
                </a:solidFill>
                <a:latin typeface="Microsoft YaHei"/>
              </a:defRPr>
            </a:pPr>
            <a:r>
              <a:t>“产出导向，就是学生高起点初始就业、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288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44B2A"/>
                </a:solidFill>
                <a:latin typeface="Microsoft YaHei"/>
              </a:defRPr>
            </a:pPr>
            <a:r>
              <a:t>教师高质量再就业——丝滑穿越大周期。”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4320000"/>
            <a:ext cx="108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9888"/>
                </a:solidFill>
                <a:latin typeface="Microsoft YaHei"/>
              </a:defRPr>
            </a:pPr>
            <a:r>
              <a:t>扫码即验全部成果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5400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A080"/>
                </a:solidFill>
                <a:latin typeface="Microsoft YaHei"/>
              </a:defRPr>
            </a:pPr>
            <a:r>
              <a:t>黄正文 · 成都大学环境工程系 · zhengwen69.github.io/cdu-gufei-web-demo</a:t>
            </a:r>
          </a:p>
        </p:txBody>
      </p:sp>
      <p:pic>
        <p:nvPicPr>
          <p:cNvPr id="6" name="Picture 5" descr="zhengwen69_github_io_cdu-gufei-web-demo_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0" y="5220000"/>
            <a:ext cx="720000" cy="72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